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fe7c2c4-668f-bef5-5e34-f97d1ab1c5e8}">
          <p14:sldIdLst>
            <p14:sldId id="256"/>
            <p14:sldId id="257"/>
            <p14:sldId id="258"/>
          </p14:sldIdLst>
        </p14:section>
        <p14:section name="The Algorithm" id="{1a8c7cb7-2da0-920b-e2ff-542f6fbe4827}">
          <p14:sldIdLst>
            <p14:sldId id="259"/>
            <p14:sldId id="260"/>
            <p14:sldId id="261"/>
          </p14:sldIdLst>
        </p14:section>
        <p14:section name="Analysis" id="{c4cd6bf8-7e82-6958-e850-d1101baf6a34}">
          <p14:sldIdLst>
            <p14:sldId id="262"/>
            <p14:sldId id="263"/>
          </p14:sldIdLst>
        </p14:section>
        <p14:section name="Wrap-up" id="{8622b233-723b-b69f-50c2-a52d59295c5f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4D3A"/>
                </a:solidFill>
                <a:latin typeface="+mn-lt"/>
              </a:rPr>
              <a:t>Operations vs number of vertices (log scale)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Matrix + array: O(V²)</c:v>
                </c:pt>
              </c:strCache>
            </c:strRef>
          </c:tx>
          <c:spPr>
            <a:solidFill>
              <a:srgbClr val="C0563B"/>
            </a:solidFill>
            <a:ln w="38100" cap="flat">
              <a:solidFill>
                <a:srgbClr val="C056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563B"/>
              </a:solidFill>
              <a:ln w="9525" cap="flat">
                <a:solidFill>
                  <a:srgbClr val="C056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100</c:v>
                  </c:pt>
                  <c:pt idx="2">
                    <c:v>1,000</c:v>
                  </c:pt>
                  <c:pt idx="3">
                    <c:v>10,000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10000</c:v>
                </c:pt>
                <c:pt idx="2">
                  <c:v>1000000</c:v>
                </c:pt>
                <c:pt idx="3">
                  <c:v>100000000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Binary heap: O(E log V), E = 2V</c:v>
                </c:pt>
              </c:strCache>
            </c:strRef>
          </c:tx>
          <c:spPr>
            <a:solidFill>
              <a:srgbClr val="2E7D55"/>
            </a:solidFill>
            <a:ln w="38100" cap="flat">
              <a:solidFill>
                <a:srgbClr val="2E7D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E7D55"/>
              </a:solidFill>
              <a:ln w="9525" cap="flat">
                <a:solidFill>
                  <a:srgbClr val="2E7D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100</c:v>
                  </c:pt>
                  <c:pt idx="2">
                    <c:v>1,000</c:v>
                  </c:pt>
                  <c:pt idx="3">
                    <c:v>10,000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</c:v>
                </c:pt>
                <c:pt idx="1">
                  <c:v>1329</c:v>
                </c:pt>
                <c:pt idx="2">
                  <c:v>19932</c:v>
                </c:pt>
                <c:pt idx="3">
                  <c:v>265754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6241D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16241D"/>
                    </a:solidFill>
                    <a:latin typeface="+mn-lt"/>
                  </a:rPr>
                  <a:t>Number of vertices (V)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4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in val="10"/>
        </c:scaling>
        <c:delete val="0"/>
        <c:axPos val="l"/>
        <c:majorGridlines>
          <c:spPr>
            <a:ln w="9525" cap="flat">
              <a:solidFill>
                <a:srgbClr val="D5E0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4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4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then the topic: Prim's algorithm finds a minimum spanning tree. The amber edges in the picture are the MST of the example graph used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Prim's algorithm is greedy: it always picks the locally cheapest edge that extends the tree. It needs a connected, weighted, undirected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spanning tree touches all V vertices using exactly V-1 edges and has no cycles. The MST is the spanning tree with the smallest total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steps. The cut property is the reason the greedy choice never has to be undone.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key[v] is the cheapest known connection from v to the tree. Each iteration extracts the vertex with the smallest key and relaxes its neighbours.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at A. Cheapest edge leaving the tree is A-C (2), then C-B (1), then B-D (5), D-E (2) and E-F (3). A-B, C-D, C-E and D-F are skipped because they would form a cycle or are costlier. Total =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matrix and a simple array scan, each of V rounds costs O(V), giving O(V^2). With a binary heap, V extract-mins plus up to E decrease-keys give O(E log V). A Fibonacci heap improves decrease-key to amortized O(1). The chart assumes a sparse graph with E = 2V; on a log scale the heap version grows far more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itself takes O(V+E) as an adjacency list. Prim's only adds per-vertex bookkeeping, so the extra space is O(V).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give an MST. Prim's grows a single tree and suits dense graphs; Kruskal sorts edges and merges components with Union-Find, which suits sparse 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43891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57400"/>
            <a:ext cx="4206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top"/>
          <p:cNvSpPr/>
          <p:nvPr/>
        </p:nvSpPr>
        <p:spPr>
          <a:xfrm>
            <a:off x="6035040" y="-1463040"/>
            <a:ext cx="4206240" cy="420624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3" name="Decor circle bottom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515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Prim's Algorithm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057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Finding the Minimum Spanning Tree</a:t>
            </a:r>
            <a:endParaRPr lang="en-US" sz="2000" dirty="0"/>
          </a:p>
        </p:txBody>
      </p:sp>
      <p:sp>
        <p:nvSpPr>
          <p:cNvPr id="6" name="Presented by label"/>
          <p:cNvSpPr txBox="1"/>
          <p:nvPr/>
        </p:nvSpPr>
        <p:spPr>
          <a:xfrm>
            <a:off x="54864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Presented by</a:t>
            </a:r>
            <a:endParaRPr lang="en-US" sz="1200" dirty="0"/>
          </a:p>
        </p:txBody>
      </p:sp>
      <p:sp>
        <p:nvSpPr>
          <p:cNvPr id="7" name="Presenter name"/>
          <p:cNvSpPr txBox="1"/>
          <p:nvPr/>
        </p:nvSpPr>
        <p:spPr>
          <a:xfrm>
            <a:off x="548640" y="3566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Alayna Ahmad</a:t>
            </a:r>
            <a:endParaRPr lang="en-US" sz="2400" dirty="0"/>
          </a:p>
        </p:txBody>
      </p:sp>
      <p:sp>
        <p:nvSpPr>
          <p:cNvPr id="8" name="Presenter PRN"/>
          <p:cNvSpPr txBox="1"/>
          <p:nvPr/>
        </p:nvSpPr>
        <p:spPr>
          <a:xfrm>
            <a:off x="54864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PRN: 25070521259</a:t>
            </a:r>
            <a:endParaRPr lang="en-US" sz="1600" dirty="0"/>
          </a:p>
        </p:txBody>
      </p:sp>
      <p:sp>
        <p:nvSpPr>
          <p:cNvPr id="9" name="Edge AB"/>
          <p:cNvSpPr/>
          <p:nvPr/>
        </p:nvSpPr>
        <p:spPr>
          <a:xfrm flipV="1">
            <a:off x="4994910" y="1202436"/>
            <a:ext cx="1056132" cy="1152144"/>
          </a:xfrm>
          <a:prstGeom prst="line">
            <a:avLst/>
          </a:prstGeom>
          <a:noFill/>
          <a:ln w="19050">
            <a:solidFill>
              <a:schemeClr val="bg2">
                <a:alpha val="35000"/>
              </a:schemeClr>
            </a:solidFill>
            <a:prstDash val="solid"/>
          </a:ln>
        </p:spPr>
      </p:sp>
      <p:sp>
        <p:nvSpPr>
          <p:cNvPr id="10" name="Edge CD"/>
          <p:cNvSpPr/>
          <p:nvPr/>
        </p:nvSpPr>
        <p:spPr>
          <a:xfrm flipV="1">
            <a:off x="6051042" y="1202436"/>
            <a:ext cx="1296162" cy="2304288"/>
          </a:xfrm>
          <a:prstGeom prst="line">
            <a:avLst/>
          </a:prstGeom>
          <a:noFill/>
          <a:ln w="19050">
            <a:solidFill>
              <a:schemeClr val="bg2">
                <a:alpha val="35000"/>
              </a:schemeClr>
            </a:solidFill>
            <a:prstDash val="solid"/>
          </a:ln>
        </p:spPr>
      </p:sp>
      <p:sp>
        <p:nvSpPr>
          <p:cNvPr id="11" name="Edge CE"/>
          <p:cNvSpPr/>
          <p:nvPr/>
        </p:nvSpPr>
        <p:spPr>
          <a:xfrm>
            <a:off x="6051042" y="3506724"/>
            <a:ext cx="1296162" cy="0"/>
          </a:xfrm>
          <a:prstGeom prst="line">
            <a:avLst/>
          </a:prstGeom>
          <a:noFill/>
          <a:ln w="19050">
            <a:solidFill>
              <a:schemeClr val="bg2">
                <a:alpha val="35000"/>
              </a:schemeClr>
            </a:solidFill>
            <a:prstDash val="solid"/>
          </a:ln>
        </p:spPr>
      </p:sp>
      <p:sp>
        <p:nvSpPr>
          <p:cNvPr id="12" name="Edge DF"/>
          <p:cNvSpPr/>
          <p:nvPr/>
        </p:nvSpPr>
        <p:spPr>
          <a:xfrm>
            <a:off x="7347204" y="1202436"/>
            <a:ext cx="1008126" cy="1152144"/>
          </a:xfrm>
          <a:prstGeom prst="line">
            <a:avLst/>
          </a:prstGeom>
          <a:noFill/>
          <a:ln w="19050">
            <a:solidFill>
              <a:schemeClr val="bg2">
                <a:alpha val="35000"/>
              </a:schemeClr>
            </a:solidFill>
            <a:prstDash val="solid"/>
          </a:ln>
        </p:spPr>
      </p:sp>
      <p:sp>
        <p:nvSpPr>
          <p:cNvPr id="13" name="MST edge AC"/>
          <p:cNvSpPr/>
          <p:nvPr/>
        </p:nvSpPr>
        <p:spPr>
          <a:xfrm>
            <a:off x="4994910" y="2354580"/>
            <a:ext cx="1056132" cy="1152144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4" name="MST edge BC"/>
          <p:cNvSpPr/>
          <p:nvPr/>
        </p:nvSpPr>
        <p:spPr>
          <a:xfrm>
            <a:off x="6051042" y="1202436"/>
            <a:ext cx="0" cy="2304288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5" name="MST edge BD"/>
          <p:cNvSpPr/>
          <p:nvPr/>
        </p:nvSpPr>
        <p:spPr>
          <a:xfrm>
            <a:off x="6051042" y="1202436"/>
            <a:ext cx="1296162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6" name="MST edge DE"/>
          <p:cNvSpPr/>
          <p:nvPr/>
        </p:nvSpPr>
        <p:spPr>
          <a:xfrm>
            <a:off x="7347204" y="1202436"/>
            <a:ext cx="0" cy="2304288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7" name="MST edge EF"/>
          <p:cNvSpPr/>
          <p:nvPr/>
        </p:nvSpPr>
        <p:spPr>
          <a:xfrm flipV="1">
            <a:off x="7347204" y="2354580"/>
            <a:ext cx="1008126" cy="1152144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8" name="Node A"/>
          <p:cNvSpPr txBox="1"/>
          <p:nvPr/>
        </p:nvSpPr>
        <p:spPr>
          <a:xfrm>
            <a:off x="4766310" y="21259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19" name="Node B"/>
          <p:cNvSpPr txBox="1"/>
          <p:nvPr/>
        </p:nvSpPr>
        <p:spPr>
          <a:xfrm>
            <a:off x="5822442" y="9738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20" name="Node C"/>
          <p:cNvSpPr txBox="1"/>
          <p:nvPr/>
        </p:nvSpPr>
        <p:spPr>
          <a:xfrm>
            <a:off x="5822442" y="327812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21" name="Node D"/>
          <p:cNvSpPr txBox="1"/>
          <p:nvPr/>
        </p:nvSpPr>
        <p:spPr>
          <a:xfrm>
            <a:off x="7118604" y="9738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</a:t>
            </a:r>
            <a:endParaRPr lang="en-US" sz="1400" dirty="0"/>
          </a:p>
        </p:txBody>
      </p:sp>
      <p:sp>
        <p:nvSpPr>
          <p:cNvPr id="22" name="Node E"/>
          <p:cNvSpPr txBox="1"/>
          <p:nvPr/>
        </p:nvSpPr>
        <p:spPr>
          <a:xfrm>
            <a:off x="7118604" y="327812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Node F"/>
          <p:cNvSpPr txBox="1"/>
          <p:nvPr/>
        </p:nvSpPr>
        <p:spPr>
          <a:xfrm>
            <a:off x="8126730" y="21259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</a:t>
            </a:r>
            <a:endParaRPr lang="en-US" sz="1400" dirty="0"/>
          </a:p>
        </p:txBody>
      </p:sp>
      <p:sp>
        <p:nvSpPr>
          <p:cNvPr id="24" name="Tag Greedy"/>
          <p:cNvSpPr txBox="1"/>
          <p:nvPr/>
        </p:nvSpPr>
        <p:spPr>
          <a:xfrm>
            <a:off x="4754880" y="416052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Greedy</a:t>
            </a:r>
            <a:endParaRPr lang="en-US" sz="1300" dirty="0"/>
          </a:p>
        </p:txBody>
      </p:sp>
      <p:sp>
        <p:nvSpPr>
          <p:cNvPr id="25" name="Tag MST"/>
          <p:cNvSpPr txBox="1"/>
          <p:nvPr/>
        </p:nvSpPr>
        <p:spPr>
          <a:xfrm>
            <a:off x="6080760" y="416052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MST</a:t>
            </a:r>
            <a:endParaRPr lang="en-US" sz="1300" dirty="0"/>
          </a:p>
        </p:txBody>
      </p:sp>
      <p:sp>
        <p:nvSpPr>
          <p:cNvPr id="26" name="Tag O(E log V)"/>
          <p:cNvSpPr txBox="1"/>
          <p:nvPr/>
        </p:nvSpPr>
        <p:spPr>
          <a:xfrm>
            <a:off x="7406640" y="416052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O(E log V)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Prim's Algorithm?</a:t>
            </a:r>
            <a:endParaRPr lang="en-US" sz="3400" dirty="0"/>
          </a:p>
        </p:txBody>
      </p:sp>
      <p:sp>
        <p:nvSpPr>
          <p:cNvPr id="3" name="Definition text"/>
          <p:cNvSpPr txBox="1"/>
          <p:nvPr/>
        </p:nvSpPr>
        <p:spPr>
          <a:xfrm>
            <a:off x="457200" y="13258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Prim's algorithm builds a Minimum Spanning Tree (MST) of a connected, weighted, undirected graph.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It starts at any vertex and keeps adding the cheapest edge that connects the growing tree to a new vertex, until every vertex is included.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Also known as the Jarník–Prim–Dijkstra algorithm (1930, 1957, 1959).</a:t>
            </a:r>
            <a:endParaRPr lang="en-US" sz="1600" dirty="0"/>
          </a:p>
        </p:txBody>
      </p:sp>
      <p:sp>
        <p:nvSpPr>
          <p:cNvPr id="4" name="Key idea card"/>
          <p:cNvSpPr/>
          <p:nvPr/>
        </p:nvSpPr>
        <p:spPr>
          <a:xfrm>
            <a:off x="457200" y="3520440"/>
            <a:ext cx="42976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5" name="Key idea text"/>
          <p:cNvSpPr txBox="1"/>
          <p:nvPr/>
        </p:nvSpPr>
        <p:spPr>
          <a:xfrm>
            <a:off x="685800" y="35204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Key idea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Always take the cheapest edge that reaches a vertex not yet in the tree.</a:t>
            </a:r>
            <a:endParaRPr lang="en-US" sz="1600" dirty="0"/>
          </a:p>
        </p:txBody>
      </p:sp>
      <p:sp>
        <p:nvSpPr>
          <p:cNvPr id="6" name="Fact card 1"/>
          <p:cNvSpPr/>
          <p:nvPr/>
        </p:nvSpPr>
        <p:spPr>
          <a:xfrm>
            <a:off x="5029200" y="1325880"/>
            <a:ext cx="3657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7" name="Fact 1 circle"/>
          <p:cNvSpPr/>
          <p:nvPr/>
        </p:nvSpPr>
        <p:spPr>
          <a:xfrm>
            <a:off x="5212080" y="155905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Fact 1 icon" descr="bo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2839" y="1689811"/>
            <a:ext cx="241402" cy="241402"/>
          </a:xfrm>
          <a:prstGeom prst="rect">
            <a:avLst/>
          </a:prstGeom>
        </p:spPr>
      </p:pic>
      <p:sp>
        <p:nvSpPr>
          <p:cNvPr id="9" name="Fact text 1"/>
          <p:cNvSpPr txBox="1"/>
          <p:nvPr/>
        </p:nvSpPr>
        <p:spPr>
          <a:xfrm>
            <a:off x="5897880" y="13258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Greedy strategy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Cheapest edge at every step</a:t>
            </a:r>
            <a:endParaRPr lang="en-US" sz="1600" dirty="0"/>
          </a:p>
        </p:txBody>
      </p:sp>
      <p:sp>
        <p:nvSpPr>
          <p:cNvPr id="10" name="Fact card 2"/>
          <p:cNvSpPr/>
          <p:nvPr/>
        </p:nvSpPr>
        <p:spPr>
          <a:xfrm>
            <a:off x="5029200" y="2468880"/>
            <a:ext cx="3657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1" name="Fact 2 circle"/>
          <p:cNvSpPr/>
          <p:nvPr/>
        </p:nvSpPr>
        <p:spPr>
          <a:xfrm>
            <a:off x="5212080" y="270205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Fact 2 icon" descr="see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839" y="2832811"/>
            <a:ext cx="241402" cy="241402"/>
          </a:xfrm>
          <a:prstGeom prst="rect">
            <a:avLst/>
          </a:prstGeom>
        </p:spPr>
      </p:pic>
      <p:sp>
        <p:nvSpPr>
          <p:cNvPr id="13" name="Fact text 2"/>
          <p:cNvSpPr txBox="1"/>
          <p:nvPr/>
        </p:nvSpPr>
        <p:spPr>
          <a:xfrm>
            <a:off x="5897880" y="24688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Grows one tree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Starts from any vertex</a:t>
            </a:r>
            <a:endParaRPr lang="en-US" sz="1600" dirty="0"/>
          </a:p>
        </p:txBody>
      </p:sp>
      <p:sp>
        <p:nvSpPr>
          <p:cNvPr id="14" name="Fact card 3"/>
          <p:cNvSpPr/>
          <p:nvPr/>
        </p:nvSpPr>
        <p:spPr>
          <a:xfrm>
            <a:off x="5029200" y="3611880"/>
            <a:ext cx="3657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5" name="Fact 3 circle"/>
          <p:cNvSpPr/>
          <p:nvPr/>
        </p:nvSpPr>
        <p:spPr>
          <a:xfrm>
            <a:off x="5212080" y="384505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act 3 icon" descr="grap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839" y="3975811"/>
            <a:ext cx="241402" cy="241402"/>
          </a:xfrm>
          <a:prstGeom prst="rect">
            <a:avLst/>
          </a:prstGeom>
        </p:spPr>
      </p:pic>
      <p:sp>
        <p:nvSpPr>
          <p:cNvPr id="17" name="Fact text 3"/>
          <p:cNvSpPr txBox="1"/>
          <p:nvPr/>
        </p:nvSpPr>
        <p:spPr>
          <a:xfrm>
            <a:off x="5897880" y="36118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Works 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Connected, weighted, undirected graphs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Minimum Spanning Tree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45720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48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All vertices</a:t>
            </a:r>
            <a:endParaRPr lang="en-US" sz="1600" dirty="0"/>
          </a:p>
        </p:txBody>
      </p:sp>
      <p:sp>
        <p:nvSpPr>
          <p:cNvPr id="6" name="Stat note 1"/>
          <p:cNvSpPr txBox="1"/>
          <p:nvPr/>
        </p:nvSpPr>
        <p:spPr>
          <a:xfrm>
            <a:off x="64008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vertex is reached by the tree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29184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8" name="Stat value 2"/>
          <p:cNvSpPr txBox="1"/>
          <p:nvPr/>
        </p:nvSpPr>
        <p:spPr>
          <a:xfrm>
            <a:off x="329184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− 1</a:t>
            </a:r>
            <a:endParaRPr lang="en-US" sz="4800" dirty="0"/>
          </a:p>
        </p:txBody>
      </p:sp>
      <p:sp>
        <p:nvSpPr>
          <p:cNvPr id="9" name="Stat label 2"/>
          <p:cNvSpPr txBox="1"/>
          <p:nvPr/>
        </p:nvSpPr>
        <p:spPr>
          <a:xfrm>
            <a:off x="329184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Edges only</a:t>
            </a:r>
            <a:endParaRPr lang="en-US" sz="1600" dirty="0"/>
          </a:p>
        </p:txBody>
      </p:sp>
      <p:sp>
        <p:nvSpPr>
          <p:cNvPr id="10" name="Stat note 2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Fewest edges that keep it connected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612648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2" name="Stat value 3"/>
          <p:cNvSpPr txBox="1"/>
          <p:nvPr/>
        </p:nvSpPr>
        <p:spPr>
          <a:xfrm>
            <a:off x="612648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1264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Cycles</a:t>
            </a:r>
            <a:endParaRPr lang="en-US" sz="1600" dirty="0"/>
          </a:p>
        </p:txBody>
      </p:sp>
      <p:sp>
        <p:nvSpPr>
          <p:cNvPr id="14" name="Stat note 3"/>
          <p:cNvSpPr txBox="1"/>
          <p:nvPr/>
        </p:nvSpPr>
        <p:spPr>
          <a:xfrm>
            <a:off x="6309360" y="2697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tree never loops back on itself</a:t>
            </a:r>
            <a:endParaRPr lang="en-US" sz="1400" dirty="0"/>
          </a:p>
        </p:txBody>
      </p:sp>
      <p:sp>
        <p:nvSpPr>
          <p:cNvPr id="15" name="Goal band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6" name="Goal circle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Goal icon" descr="tre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3971239"/>
            <a:ext cx="241402" cy="241402"/>
          </a:xfrm>
          <a:prstGeom prst="rect">
            <a:avLst/>
          </a:prstGeom>
        </p:spPr>
      </p:pic>
      <p:sp>
        <p:nvSpPr>
          <p:cNvPr id="18" name="Goal text"/>
          <p:cNvSpPr txBox="1"/>
          <p:nvPr/>
        </p:nvSpPr>
        <p:spPr>
          <a:xfrm>
            <a:off x="1371600" y="36576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Goal: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connect every vertex using the least total edge weight — for example, laying the least cable to link all villages.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Prim's Algorithm Works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457200" y="1371600"/>
            <a:ext cx="182880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tep 1 circle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1 icon" descr="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685239"/>
            <a:ext cx="241402" cy="241402"/>
          </a:xfrm>
          <a:prstGeom prst="rect">
            <a:avLst/>
          </a:prstGeom>
        </p:spPr>
      </p:pic>
      <p:sp>
        <p:nvSpPr>
          <p:cNvPr id="6" name="Step index 1"/>
          <p:cNvSpPr txBox="1"/>
          <p:nvPr/>
        </p:nvSpPr>
        <p:spPr>
          <a:xfrm>
            <a:off x="178308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tep title 1"/>
          <p:cNvSpPr txBox="1"/>
          <p:nvPr/>
        </p:nvSpPr>
        <p:spPr>
          <a:xfrm>
            <a:off x="640080" y="2194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Initialize</a:t>
            </a:r>
            <a:endParaRPr lang="en-US" sz="1600" dirty="0"/>
          </a:p>
        </p:txBody>
      </p:sp>
      <p:sp>
        <p:nvSpPr>
          <p:cNvPr id="8" name="Step text 1"/>
          <p:cNvSpPr txBox="1"/>
          <p:nvPr/>
        </p:nvSpPr>
        <p:spPr>
          <a:xfrm>
            <a:off x="640080" y="2606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any start vertex and add it to the tree.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>
            <a:off x="2322576" y="2377440"/>
            <a:ext cx="201168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0" name="Step card 2"/>
          <p:cNvSpPr/>
          <p:nvPr/>
        </p:nvSpPr>
        <p:spPr>
          <a:xfrm>
            <a:off x="2560320" y="1371600"/>
            <a:ext cx="182880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Step 2 circle"/>
          <p:cNvSpPr/>
          <p:nvPr/>
        </p:nvSpPr>
        <p:spPr>
          <a:xfrm>
            <a:off x="274320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tep 2 icon" descr="sear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59" y="1685239"/>
            <a:ext cx="241402" cy="241402"/>
          </a:xfrm>
          <a:prstGeom prst="rect">
            <a:avLst/>
          </a:prstGeom>
        </p:spPr>
      </p:pic>
      <p:sp>
        <p:nvSpPr>
          <p:cNvPr id="13" name="Step index 2"/>
          <p:cNvSpPr txBox="1"/>
          <p:nvPr/>
        </p:nvSpPr>
        <p:spPr>
          <a:xfrm>
            <a:off x="388620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tep title 2"/>
          <p:cNvSpPr txBox="1"/>
          <p:nvPr/>
        </p:nvSpPr>
        <p:spPr>
          <a:xfrm>
            <a:off x="2743200" y="2194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Scan edges</a:t>
            </a:r>
            <a:endParaRPr lang="en-US" sz="1600" dirty="0"/>
          </a:p>
        </p:txBody>
      </p:sp>
      <p:sp>
        <p:nvSpPr>
          <p:cNvPr id="15" name="Step text 2"/>
          <p:cNvSpPr txBox="1"/>
          <p:nvPr/>
        </p:nvSpPr>
        <p:spPr>
          <a:xfrm>
            <a:off x="2743200" y="2606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Look at every edge linking the tree to outside vertices.</a:t>
            </a:r>
            <a:endParaRPr lang="en-US" sz="1400" dirty="0"/>
          </a:p>
        </p:txBody>
      </p:sp>
      <p:sp>
        <p:nvSpPr>
          <p:cNvPr id="16" name="Arrow 2"/>
          <p:cNvSpPr/>
          <p:nvPr/>
        </p:nvSpPr>
        <p:spPr>
          <a:xfrm>
            <a:off x="4425696" y="2377440"/>
            <a:ext cx="201168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7" name="Step card 3"/>
          <p:cNvSpPr/>
          <p:nvPr/>
        </p:nvSpPr>
        <p:spPr>
          <a:xfrm>
            <a:off x="4663440" y="1371600"/>
            <a:ext cx="182880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Step 3 circle"/>
          <p:cNvSpPr/>
          <p:nvPr/>
        </p:nvSpPr>
        <p:spPr>
          <a:xfrm>
            <a:off x="484632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tep 3 icon" descr="plu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1685239"/>
            <a:ext cx="241402" cy="241402"/>
          </a:xfrm>
          <a:prstGeom prst="rect">
            <a:avLst/>
          </a:prstGeom>
        </p:spPr>
      </p:pic>
      <p:sp>
        <p:nvSpPr>
          <p:cNvPr id="20" name="Step index 3"/>
          <p:cNvSpPr txBox="1"/>
          <p:nvPr/>
        </p:nvSpPr>
        <p:spPr>
          <a:xfrm>
            <a:off x="598932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Step title 3"/>
          <p:cNvSpPr txBox="1"/>
          <p:nvPr/>
        </p:nvSpPr>
        <p:spPr>
          <a:xfrm>
            <a:off x="4846320" y="2194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Add cheapest</a:t>
            </a:r>
            <a:endParaRPr lang="en-US" sz="1600" dirty="0"/>
          </a:p>
        </p:txBody>
      </p:sp>
      <p:sp>
        <p:nvSpPr>
          <p:cNvPr id="22" name="Step text 3"/>
          <p:cNvSpPr txBox="1"/>
          <p:nvPr/>
        </p:nvSpPr>
        <p:spPr>
          <a:xfrm>
            <a:off x="4846320" y="2606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the minimum-weight edge and add its new vertex.</a:t>
            </a:r>
            <a:endParaRPr lang="en-US" sz="1400" dirty="0"/>
          </a:p>
        </p:txBody>
      </p:sp>
      <p:sp>
        <p:nvSpPr>
          <p:cNvPr id="23" name="Arrow 3"/>
          <p:cNvSpPr/>
          <p:nvPr/>
        </p:nvSpPr>
        <p:spPr>
          <a:xfrm>
            <a:off x="6528816" y="2377440"/>
            <a:ext cx="201168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4" name="Step card 4"/>
          <p:cNvSpPr/>
          <p:nvPr/>
        </p:nvSpPr>
        <p:spPr>
          <a:xfrm>
            <a:off x="6766560" y="1371600"/>
            <a:ext cx="1828800" cy="2286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5" name="Step 4 circle"/>
          <p:cNvSpPr/>
          <p:nvPr/>
        </p:nvSpPr>
        <p:spPr>
          <a:xfrm>
            <a:off x="694944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Step 4 icon" descr="redo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199" y="1685239"/>
            <a:ext cx="241402" cy="241402"/>
          </a:xfrm>
          <a:prstGeom prst="rect">
            <a:avLst/>
          </a:prstGeom>
        </p:spPr>
      </p:pic>
      <p:sp>
        <p:nvSpPr>
          <p:cNvPr id="27" name="Step index 4"/>
          <p:cNvSpPr txBox="1"/>
          <p:nvPr/>
        </p:nvSpPr>
        <p:spPr>
          <a:xfrm>
            <a:off x="8092440" y="1508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Step title 4"/>
          <p:cNvSpPr txBox="1"/>
          <p:nvPr/>
        </p:nvSpPr>
        <p:spPr>
          <a:xfrm>
            <a:off x="6949440" y="2194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Repeat</a:t>
            </a:r>
            <a:endParaRPr lang="en-US" sz="1600" dirty="0"/>
          </a:p>
        </p:txBody>
      </p:sp>
      <p:sp>
        <p:nvSpPr>
          <p:cNvPr id="29" name="Step text 4"/>
          <p:cNvSpPr txBox="1"/>
          <p:nvPr/>
        </p:nvSpPr>
        <p:spPr>
          <a:xfrm>
            <a:off x="6949440" y="26060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Continue until all V vertices are in the tree.</a:t>
            </a:r>
            <a:endParaRPr lang="en-US" sz="1400" dirty="0"/>
          </a:p>
        </p:txBody>
      </p:sp>
      <p:sp>
        <p:nvSpPr>
          <p:cNvPr id="30" name="Cut property band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31" name="Cut property text"/>
          <p:cNvSpPr txBox="1"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Cut property: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cheapest edge crossing any cut of the graph always belongs to some MST, so the greedy choice is safe.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Pseudocode</a:t>
            </a:r>
            <a:endParaRPr lang="en-US" sz="3400" dirty="0"/>
          </a:p>
        </p:txBody>
      </p:sp>
      <p:sp>
        <p:nvSpPr>
          <p:cNvPr id="3" name="Code block"/>
          <p:cNvSpPr/>
          <p:nvPr/>
        </p:nvSpPr>
        <p:spPr>
          <a:xfrm>
            <a:off x="457200" y="1325880"/>
            <a:ext cx="5029200" cy="3291840"/>
          </a:xfrm>
          <a:prstGeom prst="roundRect">
            <a:avLst>
              <a:gd name="adj" fmla="val 2778"/>
            </a:avLst>
          </a:prstGeom>
          <a:solidFill>
            <a:schemeClr val="tx1"/>
          </a:solidFill>
          <a:ln/>
        </p:spPr>
      </p:sp>
      <p:sp>
        <p:nvSpPr>
          <p:cNvPr id="4" name="Window dot 1"/>
          <p:cNvSpPr/>
          <p:nvPr/>
        </p:nvSpPr>
        <p:spPr>
          <a:xfrm>
            <a:off x="685800" y="1481328"/>
            <a:ext cx="128016" cy="128016"/>
          </a:xfrm>
          <a:prstGeom prst="ellipse">
            <a:avLst/>
          </a:prstGeom>
          <a:solidFill>
            <a:srgbClr val="C0563B"/>
          </a:solidFill>
          <a:ln/>
        </p:spPr>
      </p:sp>
      <p:sp>
        <p:nvSpPr>
          <p:cNvPr id="5" name="Window dot 2"/>
          <p:cNvSpPr/>
          <p:nvPr/>
        </p:nvSpPr>
        <p:spPr>
          <a:xfrm>
            <a:off x="914400" y="148132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Window dot 3"/>
          <p:cNvSpPr/>
          <p:nvPr/>
        </p:nvSpPr>
        <p:spPr>
          <a:xfrm>
            <a:off x="1143000" y="1481328"/>
            <a:ext cx="128016" cy="128016"/>
          </a:xfrm>
          <a:prstGeom prst="ellipse">
            <a:avLst/>
          </a:prstGeom>
          <a:solidFill>
            <a:srgbClr val="2E7D55"/>
          </a:solidFill>
          <a:ln/>
        </p:spPr>
      </p:sp>
      <p:sp>
        <p:nvSpPr>
          <p:cNvPr id="7" name="Pseudocode"/>
          <p:cNvSpPr txBox="1"/>
          <p:nvPr/>
        </p:nvSpPr>
        <p:spPr>
          <a:xfrm>
            <a:off x="685800" y="17373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PRIM(G, s):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vertex v: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key[v] = ∞;  parent[v] = NIL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key[s] = 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 = priority queue of all vertices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 is not empty: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= EXTRACT-MIN(Q)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neighbour v of u: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v in Q and w(u,v) &lt; key[v]: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parent[v] = u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key[v] = w(u,v)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{(parent[v], v)}</a:t>
            </a:r>
            <a:endParaRPr lang="en-US" sz="1300" dirty="0"/>
          </a:p>
        </p:txBody>
      </p:sp>
      <p:sp>
        <p:nvSpPr>
          <p:cNvPr id="8" name="Idea card 1"/>
          <p:cNvSpPr/>
          <p:nvPr/>
        </p:nvSpPr>
        <p:spPr>
          <a:xfrm>
            <a:off x="5760720" y="1325880"/>
            <a:ext cx="2926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Idea text 1"/>
          <p:cNvSpPr txBox="1"/>
          <p:nvPr/>
        </p:nvSpPr>
        <p:spPr>
          <a:xfrm>
            <a:off x="5943600" y="13258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key[v]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Cheapest edge weight linking v to the tree</a:t>
            </a:r>
            <a:endParaRPr lang="en-US" sz="1600" dirty="0"/>
          </a:p>
        </p:txBody>
      </p:sp>
      <p:sp>
        <p:nvSpPr>
          <p:cNvPr id="10" name="Idea card 2"/>
          <p:cNvSpPr/>
          <p:nvPr/>
        </p:nvSpPr>
        <p:spPr>
          <a:xfrm>
            <a:off x="5760720" y="2468880"/>
            <a:ext cx="2926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1" name="Idea text 2"/>
          <p:cNvSpPr txBox="1"/>
          <p:nvPr/>
        </p:nvSpPr>
        <p:spPr>
          <a:xfrm>
            <a:off x="5943600" y="24688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parent[v]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Tree vertex v attaches to — stores the MST edge</a:t>
            </a:r>
            <a:endParaRPr lang="en-US" sz="1600" dirty="0"/>
          </a:p>
        </p:txBody>
      </p:sp>
      <p:sp>
        <p:nvSpPr>
          <p:cNvPr id="12" name="Idea card 3"/>
          <p:cNvSpPr/>
          <p:nvPr/>
        </p:nvSpPr>
        <p:spPr>
          <a:xfrm>
            <a:off x="5760720" y="3611880"/>
            <a:ext cx="292608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Idea text 3"/>
          <p:cNvSpPr txBox="1"/>
          <p:nvPr/>
        </p:nvSpPr>
        <p:spPr>
          <a:xfrm>
            <a:off x="5943600" y="36118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EXTRACT-MIN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Removes the vertex with the smallest key next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Worked Example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Edge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– 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– 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– 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 – 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 – F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sult band"/>
          <p:cNvSpPr/>
          <p:nvPr/>
        </p:nvSpPr>
        <p:spPr>
          <a:xfrm>
            <a:off x="457200" y="3840480"/>
            <a:ext cx="420624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5" name="Result line"/>
          <p:cNvSpPr txBox="1"/>
          <p:nvPr/>
        </p:nvSpPr>
        <p:spPr>
          <a:xfrm>
            <a:off x="457200" y="3840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Start at A  ·  </a:t>
            </a:r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MST weight = 13</a:t>
            </a:r>
            <a:endParaRPr lang="en-US" sz="1800" dirty="0"/>
          </a:p>
        </p:txBody>
      </p:sp>
      <p:sp>
        <p:nvSpPr>
          <p:cNvPr id="6" name="Edge AB"/>
          <p:cNvSpPr/>
          <p:nvPr/>
        </p:nvSpPr>
        <p:spPr>
          <a:xfrm flipV="1">
            <a:off x="5212080" y="1645920"/>
            <a:ext cx="1005840" cy="10972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7" name="Edge CD"/>
          <p:cNvSpPr/>
          <p:nvPr/>
        </p:nvSpPr>
        <p:spPr>
          <a:xfrm flipV="1">
            <a:off x="6217920" y="1645920"/>
            <a:ext cx="1234440" cy="21945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8" name="Edge CE"/>
          <p:cNvSpPr/>
          <p:nvPr/>
        </p:nvSpPr>
        <p:spPr>
          <a:xfrm>
            <a:off x="6217920" y="3840480"/>
            <a:ext cx="123444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Edge DF"/>
          <p:cNvSpPr/>
          <p:nvPr/>
        </p:nvSpPr>
        <p:spPr>
          <a:xfrm>
            <a:off x="7452360" y="1645920"/>
            <a:ext cx="960120" cy="109728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MST edge AC"/>
          <p:cNvSpPr/>
          <p:nvPr/>
        </p:nvSpPr>
        <p:spPr>
          <a:xfrm>
            <a:off x="5212080" y="2743200"/>
            <a:ext cx="1005840" cy="109728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1" name="MST edge BC"/>
          <p:cNvSpPr/>
          <p:nvPr/>
        </p:nvSpPr>
        <p:spPr>
          <a:xfrm>
            <a:off x="6217920" y="1645920"/>
            <a:ext cx="0" cy="219456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2" name="MST edge BD"/>
          <p:cNvSpPr/>
          <p:nvPr/>
        </p:nvSpPr>
        <p:spPr>
          <a:xfrm>
            <a:off x="6217920" y="1645920"/>
            <a:ext cx="1234440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3" name="MST edge DE"/>
          <p:cNvSpPr/>
          <p:nvPr/>
        </p:nvSpPr>
        <p:spPr>
          <a:xfrm>
            <a:off x="7452360" y="1645920"/>
            <a:ext cx="0" cy="219456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4" name="MST edge EF"/>
          <p:cNvSpPr/>
          <p:nvPr/>
        </p:nvSpPr>
        <p:spPr>
          <a:xfrm flipV="1">
            <a:off x="7452360" y="2743200"/>
            <a:ext cx="960120" cy="109728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5" name="Weight AB"/>
          <p:cNvSpPr txBox="1"/>
          <p:nvPr/>
        </p:nvSpPr>
        <p:spPr>
          <a:xfrm>
            <a:off x="5559552" y="203911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Weight AC"/>
          <p:cNvSpPr txBox="1"/>
          <p:nvPr/>
        </p:nvSpPr>
        <p:spPr>
          <a:xfrm>
            <a:off x="5559552" y="3136392"/>
            <a:ext cx="310896" cy="310896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Weight BC"/>
          <p:cNvSpPr txBox="1"/>
          <p:nvPr/>
        </p:nvSpPr>
        <p:spPr>
          <a:xfrm>
            <a:off x="6062472" y="2587752"/>
            <a:ext cx="310896" cy="310896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Weight BD"/>
          <p:cNvSpPr txBox="1"/>
          <p:nvPr/>
        </p:nvSpPr>
        <p:spPr>
          <a:xfrm>
            <a:off x="6679692" y="1490472"/>
            <a:ext cx="310896" cy="310896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Weight CD"/>
          <p:cNvSpPr txBox="1"/>
          <p:nvPr/>
        </p:nvSpPr>
        <p:spPr>
          <a:xfrm>
            <a:off x="6679692" y="258775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20" name="Weight CE"/>
          <p:cNvSpPr txBox="1"/>
          <p:nvPr/>
        </p:nvSpPr>
        <p:spPr>
          <a:xfrm>
            <a:off x="6679692" y="368503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</a:t>
            </a:r>
            <a:endParaRPr lang="en-US" sz="1200" dirty="0"/>
          </a:p>
        </p:txBody>
      </p:sp>
      <p:sp>
        <p:nvSpPr>
          <p:cNvPr id="21" name="Weight DE"/>
          <p:cNvSpPr txBox="1"/>
          <p:nvPr/>
        </p:nvSpPr>
        <p:spPr>
          <a:xfrm>
            <a:off x="7296912" y="2587752"/>
            <a:ext cx="310896" cy="310896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Weight DF"/>
          <p:cNvSpPr txBox="1"/>
          <p:nvPr/>
        </p:nvSpPr>
        <p:spPr>
          <a:xfrm>
            <a:off x="7776972" y="203911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3" name="Weight EF"/>
          <p:cNvSpPr txBox="1"/>
          <p:nvPr/>
        </p:nvSpPr>
        <p:spPr>
          <a:xfrm>
            <a:off x="7776972" y="3136392"/>
            <a:ext cx="310896" cy="310896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Node A"/>
          <p:cNvSpPr txBox="1"/>
          <p:nvPr/>
        </p:nvSpPr>
        <p:spPr>
          <a:xfrm>
            <a:off x="4983480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25" name="Node B"/>
          <p:cNvSpPr txBox="1"/>
          <p:nvPr/>
        </p:nvSpPr>
        <p:spPr>
          <a:xfrm>
            <a:off x="598932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26" name="Node C"/>
          <p:cNvSpPr txBox="1"/>
          <p:nvPr/>
        </p:nvSpPr>
        <p:spPr>
          <a:xfrm>
            <a:off x="598932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27" name="Node D"/>
          <p:cNvSpPr txBox="1"/>
          <p:nvPr/>
        </p:nvSpPr>
        <p:spPr>
          <a:xfrm>
            <a:off x="72237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28" name="Node E"/>
          <p:cNvSpPr txBox="1"/>
          <p:nvPr/>
        </p:nvSpPr>
        <p:spPr>
          <a:xfrm>
            <a:off x="722376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29" name="Node F"/>
          <p:cNvSpPr txBox="1"/>
          <p:nvPr/>
        </p:nvSpPr>
        <p:spPr>
          <a:xfrm>
            <a:off x="8183880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</a:t>
            </a:r>
            <a:endParaRPr lang="en-US" sz="1400" dirty="0"/>
          </a:p>
        </p:txBody>
      </p:sp>
      <p:sp>
        <p:nvSpPr>
          <p:cNvPr id="30" name="Legend MST line"/>
          <p:cNvSpPr/>
          <p:nvPr/>
        </p:nvSpPr>
        <p:spPr>
          <a:xfrm>
            <a:off x="5029200" y="4434840"/>
            <a:ext cx="411480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1" name="Legend MST text"/>
          <p:cNvSpPr txBox="1"/>
          <p:nvPr/>
        </p:nvSpPr>
        <p:spPr>
          <a:xfrm>
            <a:off x="553212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MST edge</a:t>
            </a:r>
            <a:endParaRPr lang="en-US" sz="1200" dirty="0"/>
          </a:p>
        </p:txBody>
      </p:sp>
      <p:sp>
        <p:nvSpPr>
          <p:cNvPr id="32" name="Legend other line"/>
          <p:cNvSpPr/>
          <p:nvPr/>
        </p:nvSpPr>
        <p:spPr>
          <a:xfrm>
            <a:off x="6858000" y="4434840"/>
            <a:ext cx="4114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3" name="Legend other text"/>
          <p:cNvSpPr txBox="1"/>
          <p:nvPr/>
        </p:nvSpPr>
        <p:spPr>
          <a:xfrm>
            <a:off x="736092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 chosen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Time Complexity</a:t>
            </a:r>
            <a:endParaRPr lang="en-US" sz="3400" dirty="0"/>
          </a:p>
        </p:txBody>
      </p:sp>
      <p:sp>
        <p:nvSpPr>
          <p:cNvPr id="3" name="Time callout"/>
          <p:cNvSpPr/>
          <p:nvPr/>
        </p:nvSpPr>
        <p:spPr>
          <a:xfrm>
            <a:off x="457200" y="1280160"/>
            <a:ext cx="246888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4" name="Callout label"/>
          <p:cNvSpPr txBox="1"/>
          <p:nvPr/>
        </p:nvSpPr>
        <p:spPr>
          <a:xfrm>
            <a:off x="45720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Typical running time</a:t>
            </a:r>
            <a:endParaRPr lang="en-US" sz="1400" dirty="0"/>
          </a:p>
        </p:txBody>
      </p:sp>
      <p:sp>
        <p:nvSpPr>
          <p:cNvPr id="5" name="Callout value"/>
          <p:cNvSpPr txBox="1"/>
          <p:nvPr/>
        </p:nvSpPr>
        <p:spPr>
          <a:xfrm>
            <a:off x="457200" y="1783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O(E log V)</a:t>
            </a:r>
            <a:endParaRPr lang="en-US" sz="3000" dirty="0"/>
          </a:p>
        </p:txBody>
      </p:sp>
      <p:sp>
        <p:nvSpPr>
          <p:cNvPr id="6" name="Callout note"/>
          <p:cNvSpPr txBox="1"/>
          <p:nvPr/>
        </p:nvSpPr>
        <p:spPr>
          <a:xfrm>
            <a:off x="640080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Binary heap + adjacency list, the standard implementation</a:t>
            </a:r>
            <a:endParaRPr lang="en-US" sz="1400" dirty="0"/>
          </a:p>
        </p:txBody>
      </p:sp>
      <p:graphicFrame>
        <p:nvGraphicFramePr>
          <p:cNvPr id="7" name="Complexity chart" descr=""/>
          <p:cNvGraphicFramePr/>
          <p:nvPr/>
        </p:nvGraphicFramePr>
        <p:xfrm>
          <a:off x="3154680" y="1188720"/>
          <a:ext cx="5532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Impl card 1"/>
          <p:cNvSpPr/>
          <p:nvPr/>
        </p:nvSpPr>
        <p:spPr>
          <a:xfrm>
            <a:off x="457200" y="3703320"/>
            <a:ext cx="26517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Impl text 1"/>
          <p:cNvSpPr txBox="1"/>
          <p:nvPr/>
        </p:nvSpPr>
        <p:spPr>
          <a:xfrm>
            <a:off x="640080" y="3703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Matrix + array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O(V²)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Dense graphs</a:t>
            </a:r>
            <a:endParaRPr lang="en-US" sz="1400" dirty="0"/>
          </a:p>
        </p:txBody>
      </p:sp>
      <p:sp>
        <p:nvSpPr>
          <p:cNvPr id="10" name="Impl card 2"/>
          <p:cNvSpPr/>
          <p:nvPr/>
        </p:nvSpPr>
        <p:spPr>
          <a:xfrm>
            <a:off x="3246120" y="3703320"/>
            <a:ext cx="26517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1" name="Impl text 2"/>
          <p:cNvSpPr txBox="1"/>
          <p:nvPr/>
        </p:nvSpPr>
        <p:spPr>
          <a:xfrm>
            <a:off x="3429000" y="3703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List + binary heap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O(E log V)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Sparse graphs</a:t>
            </a:r>
            <a:endParaRPr lang="en-US" sz="1400" dirty="0"/>
          </a:p>
        </p:txBody>
      </p:sp>
      <p:sp>
        <p:nvSpPr>
          <p:cNvPr id="12" name="Impl card 3"/>
          <p:cNvSpPr/>
          <p:nvPr/>
        </p:nvSpPr>
        <p:spPr>
          <a:xfrm>
            <a:off x="6035040" y="3703320"/>
            <a:ext cx="26517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3" name="Impl text 3"/>
          <p:cNvSpPr txBox="1"/>
          <p:nvPr/>
        </p:nvSpPr>
        <p:spPr>
          <a:xfrm>
            <a:off x="6217920" y="37033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List + Fibonacci heap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O(E + V log V)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Very large graphs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Space Complexity</a:t>
            </a:r>
            <a:endParaRPr lang="en-US" sz="3400" dirty="0"/>
          </a:p>
        </p:txBody>
      </p:sp>
      <p:sp>
        <p:nvSpPr>
          <p:cNvPr id="3" name="Space card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Space 1 circle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pace 1 icon" descr="grap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685239"/>
            <a:ext cx="241402" cy="241402"/>
          </a:xfrm>
          <a:prstGeom prst="rect">
            <a:avLst/>
          </a:prstGeom>
        </p:spPr>
      </p:pic>
      <p:sp>
        <p:nvSpPr>
          <p:cNvPr id="6" name="Space title 1"/>
          <p:cNvSpPr txBox="1"/>
          <p:nvPr/>
        </p:nvSpPr>
        <p:spPr>
          <a:xfrm>
            <a:off x="128016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Graph storage</a:t>
            </a:r>
            <a:endParaRPr lang="en-US" sz="1600" dirty="0"/>
          </a:p>
        </p:txBody>
      </p:sp>
      <p:sp>
        <p:nvSpPr>
          <p:cNvPr id="7" name="Space value 1"/>
          <p:cNvSpPr txBox="1"/>
          <p:nvPr/>
        </p:nvSpPr>
        <p:spPr>
          <a:xfrm>
            <a:off x="64008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 + E)</a:t>
            </a:r>
            <a:endParaRPr lang="en-US" sz="3000" dirty="0"/>
          </a:p>
        </p:txBody>
      </p:sp>
      <p:sp>
        <p:nvSpPr>
          <p:cNvPr id="8" name="Space note 1"/>
          <p:cNvSpPr txBox="1"/>
          <p:nvPr/>
        </p:nvSpPr>
        <p:spPr>
          <a:xfrm>
            <a:off x="640080" y="2880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Adjacency list. A matrix needs O(V²).</a:t>
            </a:r>
            <a:endParaRPr lang="en-US" sz="1400" dirty="0"/>
          </a:p>
        </p:txBody>
      </p:sp>
      <p:sp>
        <p:nvSpPr>
          <p:cNvPr id="9" name="Space card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Space 2 circle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pace 2 icon" descr="lis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685239"/>
            <a:ext cx="241402" cy="241402"/>
          </a:xfrm>
          <a:prstGeom prst="rect">
            <a:avLst/>
          </a:prstGeom>
        </p:spPr>
      </p:pic>
      <p:sp>
        <p:nvSpPr>
          <p:cNvPr id="12" name="Space title 2"/>
          <p:cNvSpPr txBox="1"/>
          <p:nvPr/>
        </p:nvSpPr>
        <p:spPr>
          <a:xfrm>
            <a:off x="411480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Auxiliary arrays</a:t>
            </a:r>
            <a:endParaRPr lang="en-US" sz="1600" dirty="0"/>
          </a:p>
        </p:txBody>
      </p:sp>
      <p:sp>
        <p:nvSpPr>
          <p:cNvPr id="13" name="Space value 2"/>
          <p:cNvSpPr txBox="1"/>
          <p:nvPr/>
        </p:nvSpPr>
        <p:spPr>
          <a:xfrm>
            <a:off x="34747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O(V)</a:t>
            </a:r>
            <a:endParaRPr lang="en-US" sz="3000" dirty="0"/>
          </a:p>
        </p:txBody>
      </p:sp>
      <p:sp>
        <p:nvSpPr>
          <p:cNvPr id="14" name="Space note 2"/>
          <p:cNvSpPr txBox="1"/>
          <p:nvPr/>
        </p:nvSpPr>
        <p:spPr>
          <a:xfrm>
            <a:off x="3474720" y="2880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key[], parent[] and inMST[] — one entry per vertex.</a:t>
            </a:r>
            <a:endParaRPr lang="en-US" sz="1400" dirty="0"/>
          </a:p>
        </p:txBody>
      </p:sp>
      <p:sp>
        <p:nvSpPr>
          <p:cNvPr id="15" name="Space card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Space 3 circle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pace 3 icon" descr="lay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685239"/>
            <a:ext cx="241402" cy="241402"/>
          </a:xfrm>
          <a:prstGeom prst="rect">
            <a:avLst/>
          </a:prstGeom>
        </p:spPr>
      </p:pic>
      <p:sp>
        <p:nvSpPr>
          <p:cNvPr id="18" name="Space title 3"/>
          <p:cNvSpPr txBox="1"/>
          <p:nvPr/>
        </p:nvSpPr>
        <p:spPr>
          <a:xfrm>
            <a:off x="694944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Priority queue</a:t>
            </a:r>
            <a:endParaRPr lang="en-US" sz="1600" dirty="0"/>
          </a:p>
        </p:txBody>
      </p:sp>
      <p:sp>
        <p:nvSpPr>
          <p:cNvPr id="19" name="Space value 3"/>
          <p:cNvSpPr txBox="1"/>
          <p:nvPr/>
        </p:nvSpPr>
        <p:spPr>
          <a:xfrm>
            <a:off x="630936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O(V)</a:t>
            </a:r>
            <a:endParaRPr lang="en-US" sz="3000" dirty="0"/>
          </a:p>
        </p:txBody>
      </p:sp>
      <p:sp>
        <p:nvSpPr>
          <p:cNvPr id="20" name="Space note 3"/>
          <p:cNvSpPr txBox="1"/>
          <p:nvPr/>
        </p:nvSpPr>
        <p:spPr>
          <a:xfrm>
            <a:off x="6309360" y="2880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Holds at most V vertices at a time.</a:t>
            </a:r>
            <a:endParaRPr lang="en-US" sz="1400" dirty="0"/>
          </a:p>
        </p:txBody>
      </p:sp>
      <p:sp>
        <p:nvSpPr>
          <p:cNvPr id="21" name="Space summary band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2" name="Space summary text"/>
          <p:cNvSpPr txBox="1"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Overall: O(V + E)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with an adjacency list — the extra memory beyond the graph itself is only O(V).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Applications and Prim vs Kruskal</a:t>
            </a:r>
            <a:endParaRPr lang="en-US" sz="3400" dirty="0"/>
          </a:p>
        </p:txBody>
      </p:sp>
      <p:sp>
        <p:nvSpPr>
          <p:cNvPr id="3" name="Applications heading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Where it is used</a:t>
            </a:r>
            <a:endParaRPr lang="en-US" sz="2000" dirty="0"/>
          </a:p>
        </p:txBody>
      </p:sp>
      <p:sp>
        <p:nvSpPr>
          <p:cNvPr id="4" name="App 1 circle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pp 1 icon" descr="n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913839"/>
            <a:ext cx="241402" cy="241402"/>
          </a:xfrm>
          <a:prstGeom prst="rect">
            <a:avLst/>
          </a:prstGeom>
        </p:spPr>
      </p:pic>
      <p:sp>
        <p:nvSpPr>
          <p:cNvPr id="6" name="App text 1"/>
          <p:cNvSpPr txBox="1"/>
          <p:nvPr/>
        </p:nvSpPr>
        <p:spPr>
          <a:xfrm>
            <a:off x="109728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Network design: LAN, telephone, cable</a:t>
            </a:r>
            <a:endParaRPr lang="en-US" sz="1400" dirty="0"/>
          </a:p>
        </p:txBody>
      </p:sp>
      <p:sp>
        <p:nvSpPr>
          <p:cNvPr id="7" name="App 2 circle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App 2 icon" descr="roa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599639"/>
            <a:ext cx="241402" cy="241402"/>
          </a:xfrm>
          <a:prstGeom prst="rect">
            <a:avLst/>
          </a:prstGeom>
        </p:spPr>
      </p:pic>
      <p:sp>
        <p:nvSpPr>
          <p:cNvPr id="9" name="App text 2"/>
          <p:cNvSpPr txBox="1"/>
          <p:nvPr/>
        </p:nvSpPr>
        <p:spPr>
          <a:xfrm>
            <a:off x="1097280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 and utility layout planning</a:t>
            </a:r>
            <a:endParaRPr lang="en-US" sz="1400" dirty="0"/>
          </a:p>
        </p:txBody>
      </p:sp>
      <p:sp>
        <p:nvSpPr>
          <p:cNvPr id="10" name="App 3 circle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App 3 icon" descr="grou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285439"/>
            <a:ext cx="241402" cy="241402"/>
          </a:xfrm>
          <a:prstGeom prst="rect">
            <a:avLst/>
          </a:prstGeom>
        </p:spPr>
      </p:pic>
      <p:sp>
        <p:nvSpPr>
          <p:cNvPr id="12" name="App text 3"/>
          <p:cNvSpPr txBox="1"/>
          <p:nvPr/>
        </p:nvSpPr>
        <p:spPr>
          <a:xfrm>
            <a:off x="1097280" y="3154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Clustering and image segmentation</a:t>
            </a:r>
            <a:endParaRPr lang="en-US" sz="1400" dirty="0"/>
          </a:p>
        </p:txBody>
      </p:sp>
      <p:sp>
        <p:nvSpPr>
          <p:cNvPr id="13" name="App 4 circle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App 4 icon" descr="rout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971239"/>
            <a:ext cx="241402" cy="241402"/>
          </a:xfrm>
          <a:prstGeom prst="rect">
            <a:avLst/>
          </a:prstGeom>
        </p:spPr>
      </p:pic>
      <p:sp>
        <p:nvSpPr>
          <p:cNvPr id="15" name="App text 4"/>
          <p:cNvSpPr txBox="1"/>
          <p:nvPr/>
        </p:nvSpPr>
        <p:spPr>
          <a:xfrm>
            <a:off x="1097280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Approximating the travelling salesman problem</a:t>
            </a:r>
            <a:endParaRPr lang="en-US" sz="1400" dirty="0"/>
          </a:p>
        </p:txBody>
      </p:sp>
      <p:sp>
        <p:nvSpPr>
          <p:cNvPr id="16" name="Comparison heading"/>
          <p:cNvSpPr txBox="1"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Prim vs Kruskal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78308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08760"/>
                <a:gridCol w="1508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Prim's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Kruskal's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Approach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Grows one tree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Merges a forest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Needs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Priority queue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Union-Find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Best 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Dense graphs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Sparse graphs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O(E log V)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O(E log 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F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top"/>
          <p:cNvSpPr/>
          <p:nvPr/>
        </p:nvSpPr>
        <p:spPr>
          <a:xfrm>
            <a:off x="6583680" y="-1645920"/>
            <a:ext cx="4206240" cy="420624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3" name="Decor circle bottom"/>
          <p:cNvSpPr/>
          <p:nvPr/>
        </p:nvSpPr>
        <p:spPr>
          <a:xfrm>
            <a:off x="-1463040" y="3291840"/>
            <a:ext cx="3840480" cy="384048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5" name="Chain edge 1"/>
          <p:cNvSpPr/>
          <p:nvPr/>
        </p:nvSpPr>
        <p:spPr>
          <a:xfrm>
            <a:off x="1554480" y="2743200"/>
            <a:ext cx="1188720" cy="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6" name="Chain edge 2"/>
          <p:cNvSpPr/>
          <p:nvPr/>
        </p:nvSpPr>
        <p:spPr>
          <a:xfrm>
            <a:off x="2743200" y="2743200"/>
            <a:ext cx="1188720" cy="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7" name="Chain edge 3"/>
          <p:cNvSpPr/>
          <p:nvPr/>
        </p:nvSpPr>
        <p:spPr>
          <a:xfrm>
            <a:off x="3931920" y="2743200"/>
            <a:ext cx="1188720" cy="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8" name="Chain edge 4"/>
          <p:cNvSpPr/>
          <p:nvPr/>
        </p:nvSpPr>
        <p:spPr>
          <a:xfrm>
            <a:off x="5120640" y="2743200"/>
            <a:ext cx="1188720" cy="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9" name="Chain edge 5"/>
          <p:cNvSpPr/>
          <p:nvPr/>
        </p:nvSpPr>
        <p:spPr>
          <a:xfrm>
            <a:off x="6309360" y="2743200"/>
            <a:ext cx="1188720" cy="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10" name="Chain node 1"/>
          <p:cNvSpPr/>
          <p:nvPr/>
        </p:nvSpPr>
        <p:spPr>
          <a:xfrm>
            <a:off x="1353312" y="254203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Chain node 2"/>
          <p:cNvSpPr/>
          <p:nvPr/>
        </p:nvSpPr>
        <p:spPr>
          <a:xfrm>
            <a:off x="2542032" y="254203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Chain node 3"/>
          <p:cNvSpPr/>
          <p:nvPr/>
        </p:nvSpPr>
        <p:spPr>
          <a:xfrm>
            <a:off x="3730752" y="254203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Chain node 4"/>
          <p:cNvSpPr/>
          <p:nvPr/>
        </p:nvSpPr>
        <p:spPr>
          <a:xfrm>
            <a:off x="4919472" y="254203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Chain node 5"/>
          <p:cNvSpPr/>
          <p:nvPr/>
        </p:nvSpPr>
        <p:spPr>
          <a:xfrm>
            <a:off x="6108192" y="254203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Chain node 6"/>
          <p:cNvSpPr/>
          <p:nvPr/>
        </p:nvSpPr>
        <p:spPr>
          <a:xfrm>
            <a:off x="7296912" y="254203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Made with Claude"/>
          <p:cNvSpPr txBox="1"/>
          <p:nvPr/>
        </p:nvSpPr>
        <p:spPr>
          <a:xfrm>
            <a:off x="2926080" y="3474720"/>
            <a:ext cx="329184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Made with Claude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 Forest">
  <a:themeElements>
    <a:clrScheme name="Prim Forest">
      <a:dk1>
        <a:srgbClr val="16241D"/>
      </a:dk1>
      <a:lt1>
        <a:srgbClr val="FFFFFF"/>
      </a:lt1>
      <a:dk2>
        <a:srgbClr val="1F4D3A"/>
      </a:dk2>
      <a:lt2>
        <a:srgbClr val="EAF2EC"/>
      </a:lt2>
      <a:accent1>
        <a:srgbClr val="2E7D55"/>
      </a:accent1>
      <a:accent2>
        <a:srgbClr val="9ED08B"/>
      </a:accent2>
      <a:accent3>
        <a:srgbClr val="F2A93B"/>
      </a:accent3>
      <a:accent4>
        <a:srgbClr val="4A6FA5"/>
      </a:accent4>
      <a:accent5>
        <a:srgbClr val="C0563B"/>
      </a:accent5>
      <a:accent6>
        <a:srgbClr val="6B7F76"/>
      </a:accent6>
      <a:hlink>
        <a:srgbClr val="2E7D55"/>
      </a:hlink>
      <a:folHlink>
        <a:srgbClr val="6B7F76"/>
      </a:folHlink>
    </a:clrScheme>
    <a:fontScheme name="Prim For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Prim's Algorithm</dc:title>
  <dc:subject>PptxGenJS Presentation</dc:subject>
  <dc:creator>Alayna Ahmad</dc:creator>
  <cp:lastModifiedBy>Alayna Ahmad</cp:lastModifiedBy>
  <cp:revision>1</cp:revision>
  <dcterms:created xsi:type="dcterms:W3CDTF">2026-10-14T06:05:24Z</dcterms:created>
  <dcterms:modified xsi:type="dcterms:W3CDTF">2026-10-14T06:05:24Z</dcterms:modified>
</cp:coreProperties>
</file>